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6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00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19945" y="2743200"/>
            <a:ext cx="2468880" cy="2468880"/>
          </a:xfrm>
          <a:prstGeom prst="ellipse">
            <a:avLst/>
          </a:prstGeom>
          <a:solidFill>
            <a:srgbClr val="0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0A8FF"/>
                </a:solidFill>
              </a:rPr>
              <a:t>CDIMS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B0"/>
                </a:solidFill>
              </a:rPr>
              <a:t>Claim &amp; Disaster Insurance Management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E4"/>
                </a:solidFill>
              </a:rPr>
              <a:t>A Role-Based Insurance Platform built with Clean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6278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0C8E4"/>
                </a:solidFill>
              </a:rP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279" y="4165645"/>
            <a:ext cx="6400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</a:rPr>
              <a:t>Nanda Kishor Gudala</a:t>
            </a:r>
            <a:endParaRPr lang="en-IN" sz="2400" b="1" i="0" dirty="0">
              <a:solidFill>
                <a:srgbClr val="FFFFFF"/>
              </a:solidFill>
            </a:endParaRPr>
          </a:p>
          <a:p>
            <a:pPr algn="l"/>
            <a:r>
              <a:rPr lang="en-IN" sz="2400" b="1" dirty="0">
                <a:solidFill>
                  <a:srgbClr val="FFFFFF"/>
                </a:solidFill>
              </a:rPr>
              <a:t>Intern The Hartford</a:t>
            </a:r>
            <a:br>
              <a:rPr lang="en-IN" sz="2400" b="1" dirty="0">
                <a:solidFill>
                  <a:srgbClr val="FFFFFF"/>
                </a:solidFill>
              </a:rPr>
            </a:br>
            <a:r>
              <a:rPr lang="en-IN" sz="2400" b="1" dirty="0">
                <a:solidFill>
                  <a:srgbClr val="FFFFFF"/>
                </a:solidFill>
              </a:rPr>
              <a:t>[22/12/2025 – 22/06/2026]</a:t>
            </a:r>
          </a:p>
          <a:p>
            <a:pPr algn="l"/>
            <a:r>
              <a:rPr lang="en-IN" sz="2400" b="1" i="0" dirty="0">
                <a:solidFill>
                  <a:srgbClr val="FFFFFF"/>
                </a:solidFill>
              </a:rPr>
              <a:t>Date of Submission: 04/03/2026</a:t>
            </a:r>
          </a:p>
          <a:p>
            <a:pPr algn="l"/>
            <a:endParaRPr sz="2400" b="1" i="0" dirty="0">
              <a:solidFill>
                <a:srgbClr val="FFFFFF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AC8D36-87F6-DD2A-A18B-330EF8BF9401}"/>
              </a:ext>
            </a:extLst>
          </p:cNvPr>
          <p:cNvGrpSpPr/>
          <p:nvPr/>
        </p:nvGrpSpPr>
        <p:grpSpPr>
          <a:xfrm>
            <a:off x="3246120" y="6217920"/>
            <a:ext cx="6126480" cy="356616"/>
            <a:chOff x="502919" y="5202936"/>
            <a:chExt cx="6126480" cy="356616"/>
          </a:xfrm>
        </p:grpSpPr>
        <p:sp>
          <p:nvSpPr>
            <p:cNvPr id="11" name="Rectangle 10"/>
            <p:cNvSpPr/>
            <p:nvPr/>
          </p:nvSpPr>
          <p:spPr>
            <a:xfrm>
              <a:off x="502920" y="5212080"/>
              <a:ext cx="1920240" cy="347472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02919" y="5234387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>
                  <a:solidFill>
                    <a:srgbClr val="00A8FF"/>
                  </a:solidFill>
                </a:rPr>
                <a:t>ASP.NET Core</a:t>
              </a:r>
              <a:r>
                <a:rPr lang="en-IN" sz="1200" b="1" i="0" dirty="0">
                  <a:solidFill>
                    <a:srgbClr val="00A8FF"/>
                  </a:solidFill>
                </a:rPr>
                <a:t> 8</a:t>
              </a:r>
              <a:endParaRPr sz="1200" b="1" i="0" dirty="0">
                <a:solidFill>
                  <a:srgbClr val="00A8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06039" y="5212080"/>
              <a:ext cx="1920240" cy="347472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06039" y="5202936"/>
              <a:ext cx="192024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 dirty="0">
                  <a:solidFill>
                    <a:srgbClr val="00D4B0"/>
                  </a:solidFill>
                </a:rPr>
                <a:t>Angular </a:t>
              </a:r>
              <a:r>
                <a:rPr lang="en-IN" sz="1200" b="1" dirty="0">
                  <a:solidFill>
                    <a:srgbClr val="00D4B0"/>
                  </a:solidFill>
                </a:rPr>
                <a:t>20</a:t>
              </a:r>
              <a:endParaRPr sz="1200" b="1" i="0" dirty="0">
                <a:solidFill>
                  <a:srgbClr val="00D4B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709159" y="5212080"/>
              <a:ext cx="1920240" cy="347472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09159" y="5202936"/>
              <a:ext cx="1920240" cy="3474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 i="0">
                  <a:solidFill>
                    <a:srgbClr val="FFC328"/>
                  </a:solidFill>
                </a:rPr>
                <a:t>SQL Server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Problems We Are Solving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361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</a:rPr>
              <a:t>Fragmented &amp; Manual Claims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4"/>
                </a:solidFill>
              </a:rPr>
              <a:t>Traditional insurance claims rely on paper-based, time-consuming workflows that are error-prone, slow, and lack transparency for all stakeholders.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632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30632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363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</a:rPr>
              <a:t>Inaccurate Risk &amp; Fraud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387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4"/>
                </a:solidFill>
              </a:rPr>
              <a:t>Insurers struggle to accurately score disaster impact and detect fraudulent claims without automated calculation engines, leading to financial losses.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6634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6634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5074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365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FF"/>
                </a:solidFill>
              </a:rPr>
              <a:t>No Centralized Policy &amp; Role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38928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4"/>
                </a:solidFill>
              </a:rPr>
              <a:t>Without a unified platform, managing policy applications, agent assignments, and customer interactions across roles is disjointed and inefficient.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CDIMS?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71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8E4"/>
                </a:solidFill>
              </a:rPr>
              <a:t>Claim &amp; Disaster Insurance Management System — a full-stack, role-based insurance platform built on Clean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697480" cy="4389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697480" cy="5029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14600"/>
            <a:ext cx="25146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Manage all users &amp; roles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View system-wide reports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Configure policy products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Monitor platform 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697480" cy="4389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0" y="1920240"/>
            <a:ext cx="2697480" cy="50292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514600"/>
            <a:ext cx="25146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B0C8E4"/>
                </a:solidFill>
              </a:rPr>
              <a:t>* </a:t>
            </a:r>
            <a:r>
              <a:rPr sz="1600" dirty="0">
                <a:solidFill>
                  <a:srgbClr val="B0C8E4"/>
                </a:solidFill>
              </a:rPr>
              <a:t>Onboard new customers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Submit policy applications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Calculate premiums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Track application 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2697480" cy="4389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920240"/>
            <a:ext cx="2697480" cy="502920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514600"/>
            <a:ext cx="2514600" cy="126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View active policies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File &amp; track claims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Make premium payments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Access claim history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920240"/>
            <a:ext cx="2697480" cy="4389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920240"/>
            <a:ext cx="269748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196596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Claims Officer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2514600"/>
            <a:ext cx="2514600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Review assigned claims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Set disaster &amp; fraud scores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Approve / reject claims</a:t>
            </a:r>
          </a:p>
          <a:p>
            <a:pPr>
              <a:spcBef>
                <a:spcPts val="500"/>
              </a:spcBef>
            </a:pPr>
            <a:r>
              <a:rPr sz="1600" dirty="0">
                <a:solidFill>
                  <a:srgbClr val="B0C8E4"/>
                </a:solidFill>
              </a:rPr>
              <a:t>* Settle payments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Clean Architecture - Dependency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533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4"/>
                </a:solidFill>
              </a:rPr>
              <a:t>Dependencies point inward. Inner layers define contracts; outer layers implement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1338560" cy="8686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6537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Angular 17+ Frontend  |  ASP.NET Core Web API  |  Controllers  |  JWT Auth Middleware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834640"/>
            <a:ext cx="10424160" cy="8686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871216"/>
            <a:ext cx="10149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Services  |  DTOs  |  Interfaces  |  AutoMapper Profiles  |  Business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3840480"/>
            <a:ext cx="9052560" cy="9144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877056"/>
            <a:ext cx="8778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Domain Layer  (Core)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0624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Entities: Policy, Claims, Customer, Agent, ClaimsOfficer, Payment
Enums: ClaimStatus, PolicyStatus, ApplicationStatus  |  Base Entities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92040"/>
            <a:ext cx="11338560" cy="777240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928616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Infrastructure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EF Core  |  SQL Server  |  Repository Implementations  |  DbContext  |  Migrations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C328"/>
                </a:solidFill>
              </a:rPr>
              <a:t>Dependencies flow inward  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Calculation Engines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3533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8E4"/>
                </a:solidFill>
              </a:rPr>
              <a:t>Smart algorithms powering risk-aware, fraud-resistant insurance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39496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114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73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Premium Calculator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A8FF"/>
                </a:solidFill>
              </a:rPr>
              <a:t>Formula:  Base x AgeFactor x RiskZone x AssetAge x Coverage x Deductible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Base Premium = Coverage Amount x 1%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Age Factor: 18-30 =&gt; 1.0x  |  31-50 =&gt; 1.2x  |  51-70 =&gt; 1.5x  |  71+ =&gt; 2.0x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Risk Zone: Seismic 1.8x  |  Hurricane 1.7x  |  Wildfire 1.6x  |  Flood 1.5x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Asset Age: 0-5yr =&gt; 0.9x  |  6-15yr =&gt; 1.0x  |  16-30yr =&gt; 1.2x  |  50yr+ =&gt; 1.6x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37360"/>
            <a:ext cx="539496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737360"/>
            <a:ext cx="5394960" cy="411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739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Fraud Risk Scorer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67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6B6B"/>
                </a:solidFill>
              </a:rPr>
              <a:t>Score 0-100 — flags suspicious claim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8716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+30 pts if Claimed Amount &gt; 1.5x Estimated Loss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+10 pts base suspicion factor (early policy claims)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+5 pts geographic inconsistency factor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Max capped at 100 — triggers manual review if &gt; 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39496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394960" cy="41148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968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Estimated Loss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61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D4B0"/>
                </a:solidFill>
              </a:rPr>
              <a:t>Formula: Coverage x (PropertyLoss%) x DisasterImpactScore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DisasterImpactScore: 0.0 to 1.0 (postal-code based severity)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PropertyLossPercentage: 0-100% (officer assessed)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Result drives Approved Amount &amp; Coverage Deduction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Ensures claim payout stays within policy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5394960" cy="201168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931920"/>
            <a:ext cx="5394960" cy="411480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968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 Score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6168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C328"/>
                </a:solidFill>
              </a:rPr>
              <a:t>Score 0-100 — determines if manual underwriting is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681728"/>
            <a:ext cx="5212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Age contribution: 10 / 20 / 30 pts based on customer age band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Asset age: 10 / 20 / 30 pts based on building age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Risk zone: up to 40 pts (seismic highest)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B0C8E4"/>
                </a:solidFill>
              </a:rPr>
              <a:t>* Risk &gt; 70 OR Premium &gt; $50,000 =&gt; triggers manual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Entity Relationships &amp;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468880" cy="34747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3990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B0C8E4"/>
                </a:solidFill>
              </a:rPr>
              <a:t>Id, Username, Email</a:t>
            </a:r>
          </a:p>
          <a:p>
            <a:r>
              <a:rPr sz="1000" dirty="0" err="1">
                <a:solidFill>
                  <a:srgbClr val="B0C8E4"/>
                </a:solidFill>
              </a:rPr>
              <a:t>PasswordHash</a:t>
            </a:r>
            <a:r>
              <a:rPr sz="1000" dirty="0">
                <a:solidFill>
                  <a:srgbClr val="B0C8E4"/>
                </a:solidFill>
              </a:rPr>
              <a:t>, Role</a:t>
            </a:r>
          </a:p>
          <a:p>
            <a:r>
              <a:rPr sz="1000" dirty="0" err="1">
                <a:solidFill>
                  <a:srgbClr val="B0C8E4"/>
                </a:solidFill>
              </a:rPr>
              <a:t>CreatedAt</a:t>
            </a:r>
            <a:r>
              <a:rPr sz="1000" dirty="0">
                <a:solidFill>
                  <a:srgbClr val="B0C8E4"/>
                </a:solidFill>
              </a:rPr>
              <a:t>, </a:t>
            </a:r>
            <a:r>
              <a:rPr sz="1000" dirty="0" err="1">
                <a:solidFill>
                  <a:srgbClr val="B0C8E4"/>
                </a:solidFill>
              </a:rPr>
              <a:t>UpdatedAt</a:t>
            </a:r>
            <a:endParaRPr sz="1000" dirty="0">
              <a:solidFill>
                <a:srgbClr val="B0C8E4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468880" cy="347472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2" y="13990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71907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UserId (FK)</a:t>
            </a:r>
          </a:p>
          <a:p>
            <a:r>
              <a:rPr sz="1000">
                <a:solidFill>
                  <a:srgbClr val="B0C8E4"/>
                </a:solidFill>
              </a:rPr>
              <a:t>NationalId, DOB</a:t>
            </a:r>
          </a:p>
          <a:p>
            <a:r>
              <a:rPr sz="1000">
                <a:solidFill>
                  <a:srgbClr val="B0C8E4"/>
                </a:solidFill>
              </a:rPr>
              <a:t>Address, Phone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2468880" cy="347472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25312" y="13990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71907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73736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UserId (FK)</a:t>
            </a:r>
          </a:p>
          <a:p>
            <a:r>
              <a:rPr sz="1000">
                <a:solidFill>
                  <a:srgbClr val="B0C8E4"/>
                </a:solidFill>
              </a:rPr>
              <a:t>LicenseNumber</a:t>
            </a:r>
          </a:p>
          <a:p>
            <a:r>
              <a:rPr sz="1000">
                <a:solidFill>
                  <a:srgbClr val="B0C8E4"/>
                </a:solidFill>
              </a:rPr>
              <a:t>IsActive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371600"/>
            <a:ext cx="2651760" cy="347472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59952" y="13990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ClaimsOfficer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1719072"/>
            <a:ext cx="265176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1737360"/>
            <a:ext cx="24688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UserId (FK)</a:t>
            </a:r>
          </a:p>
          <a:p>
            <a:r>
              <a:rPr sz="1000">
                <a:solidFill>
                  <a:srgbClr val="B0C8E4"/>
                </a:solidFill>
              </a:rPr>
              <a:t>EmployeeCode</a:t>
            </a:r>
          </a:p>
          <a:p>
            <a:r>
              <a:rPr sz="1000">
                <a:solidFill>
                  <a:srgbClr val="B0C8E4"/>
                </a:solidFill>
              </a:rPr>
              <a:t>IsActive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566160"/>
            <a:ext cx="2468880" cy="347472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" y="35935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PolicyProduct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1363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Name, BaseRate</a:t>
            </a:r>
          </a:p>
          <a:p>
            <a:r>
              <a:rPr sz="1000">
                <a:solidFill>
                  <a:srgbClr val="B0C8E4"/>
                </a:solidFill>
              </a:rPr>
              <a:t>MinCoverage, MaxCoverage</a:t>
            </a:r>
          </a:p>
          <a:p>
            <a:r>
              <a:rPr sz="1000">
                <a:solidFill>
                  <a:srgbClr val="B0C8E4"/>
                </a:solidFill>
              </a:rPr>
              <a:t>Description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3566160"/>
            <a:ext cx="246888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82112" y="35935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PolicyApplication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91363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393192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CustomerId (FK)</a:t>
            </a:r>
          </a:p>
          <a:p>
            <a:r>
              <a:rPr sz="1000">
                <a:solidFill>
                  <a:srgbClr val="B0C8E4"/>
                </a:solidFill>
              </a:rPr>
              <a:t>AgentId (FK), ProductId (FK)</a:t>
            </a:r>
          </a:p>
          <a:p>
            <a:r>
              <a:rPr sz="1000">
                <a:solidFill>
                  <a:srgbClr val="B0C8E4"/>
                </a:solidFill>
              </a:rPr>
              <a:t>Status, CalculatedPremium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3566160"/>
            <a:ext cx="2468880" cy="34747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25312" y="359359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391363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393192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CustomerId (FK)</a:t>
            </a:r>
          </a:p>
          <a:p>
            <a:r>
              <a:rPr sz="1000">
                <a:solidFill>
                  <a:srgbClr val="B0C8E4"/>
                </a:solidFill>
              </a:rPr>
              <a:t>ApplicationId (FK), PolicyNumber</a:t>
            </a:r>
          </a:p>
          <a:p>
            <a:r>
              <a:rPr sz="1000">
                <a:solidFill>
                  <a:srgbClr val="B0C8E4"/>
                </a:solidFill>
              </a:rPr>
              <a:t>Coverage, Premium, Status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3566160"/>
            <a:ext cx="265176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59952" y="359359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Claims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3913632"/>
            <a:ext cx="265176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778240" y="3931920"/>
            <a:ext cx="24688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PolicyId (FK)</a:t>
            </a:r>
          </a:p>
          <a:p>
            <a:r>
              <a:rPr sz="1000">
                <a:solidFill>
                  <a:srgbClr val="B0C8E4"/>
                </a:solidFill>
              </a:rPr>
              <a:t>ClaimsOfficerId (FK)</a:t>
            </a:r>
          </a:p>
          <a:p>
            <a:r>
              <a:rPr sz="1000">
                <a:solidFill>
                  <a:srgbClr val="B0C8E4"/>
                </a:solidFill>
              </a:rPr>
              <a:t>FraudScore, DisasterScore, 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5486400"/>
            <a:ext cx="2468880" cy="347472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82112" y="5513832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833872"/>
            <a:ext cx="2468880" cy="850392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0" y="5852160"/>
            <a:ext cx="228600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C8E4"/>
                </a:solidFill>
              </a:rPr>
              <a:t>Id, PolicyId (FK)</a:t>
            </a:r>
          </a:p>
          <a:p>
            <a:r>
              <a:rPr sz="1000">
                <a:solidFill>
                  <a:srgbClr val="B0C8E4"/>
                </a:solidFill>
              </a:rPr>
              <a:t>Amount, Method</a:t>
            </a:r>
          </a:p>
          <a:p>
            <a:r>
              <a:rPr sz="1000">
                <a:solidFill>
                  <a:srgbClr val="B0C8E4"/>
                </a:solidFill>
              </a:rPr>
              <a:t>PaidAt,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8E4"/>
                </a:solidFill>
              </a:rPr>
              <a:t>Key Constraints: User -&gt; Customer/Agent/Officer (1:1)  |  Customer -&gt; PolicyApplication (1:N)  |  PolicyApplication -&gt; Policy (1:1)  |  Policy -&gt; Claims (1:N)  |  Policy -&gt; Payment (1:N)  |  Claims -&gt; ClaimsOfficer (N:1)  |  All entities extend BaseEntity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the System Can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94960" cy="2103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438912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453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Admin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20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View all users, agents &amp; customers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Platform-wide analytics &amp; reports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Create &amp; configure PolicyProducts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Manage role assignments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394960" cy="2103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438912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538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Policy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92024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Agents submit PolicyApplications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Premium auto-calculated with engine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Applications approved/rejected by admin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Active policies issued with 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94760"/>
            <a:ext cx="5394960" cy="2103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5394960" cy="4389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38313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Claims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29768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Customers file claims on active policies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Admin assigns Claims Officers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Officers score disaster impact &amp; fraud risk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Approve/Reject -&gt; auto deducts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94760"/>
            <a:ext cx="5394960" cy="21031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394960" cy="438912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8313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9768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JWT-based role authentication (4 roles)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Customers self-register via portal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Agents &amp; Officers provisioned by Admin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C8E4"/>
                </a:solidFill>
              </a:rPr>
              <a:t>[x]  BCrypt-hashed passwords, secure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611880" cy="50749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11880" cy="41148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What Was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Full Clean Architecture .NET 8 backend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Angular 17+ role-based SPA frontend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4 Actor system with JWT auth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Premium &amp; Fraud Calculation Engines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EF Core + SQL Server Data Layer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Repository Pattern + C</a:t>
            </a:r>
            <a:r>
              <a:rPr lang="en-IN" sz="1400" dirty="0">
                <a:solidFill>
                  <a:srgbClr val="B0C8E4"/>
                </a:solidFill>
              </a:rPr>
              <a:t>O</a:t>
            </a:r>
            <a:r>
              <a:rPr sz="1400" dirty="0">
                <a:solidFill>
                  <a:srgbClr val="B0C8E4"/>
                </a:solidFill>
              </a:rPr>
              <a:t>RS-ready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611880" cy="50749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611880" cy="411480"/>
          </a:xfrm>
          <a:prstGeom prst="rect">
            <a:avLst/>
          </a:prstGeom>
          <a:solidFill>
            <a:srgbClr val="00D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60" y="144475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20240"/>
            <a:ext cx="3474720" cy="2695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Clean arch enforces separation of concerns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Domain-driven entities keep business logic pure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Factory pattern + private setters prevent invalid state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Calculation engines reduce coupling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Angular guards + interceptors simplify auth flow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Iterative DB migrations avoid schema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417320"/>
            <a:ext cx="3611880" cy="50749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80" y="1417320"/>
            <a:ext cx="3611880" cy="411480"/>
          </a:xfrm>
          <a:prstGeom prst="rect">
            <a:avLst/>
          </a:prstGeom>
          <a:solidFill>
            <a:srgbClr val="FFC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44475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474720" cy="226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AI-powered fraud detection (ML.NET)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Real-time notifications (</a:t>
            </a:r>
            <a:r>
              <a:rPr sz="1400" dirty="0" err="1">
                <a:solidFill>
                  <a:srgbClr val="B0C8E4"/>
                </a:solidFill>
              </a:rPr>
              <a:t>SignalR</a:t>
            </a:r>
            <a:r>
              <a:rPr sz="1400" dirty="0">
                <a:solidFill>
                  <a:srgbClr val="B0C8E4"/>
                </a:solidFill>
              </a:rPr>
              <a:t>)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Payment gateway integration (Stripe / </a:t>
            </a:r>
            <a:r>
              <a:rPr sz="1400" dirty="0" err="1">
                <a:solidFill>
                  <a:srgbClr val="B0C8E4"/>
                </a:solidFill>
              </a:rPr>
              <a:t>Razorpay</a:t>
            </a:r>
            <a:r>
              <a:rPr sz="1400" dirty="0">
                <a:solidFill>
                  <a:srgbClr val="B0C8E4"/>
                </a:solidFill>
              </a:rPr>
              <a:t>)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Mobile app (Ionic / MAUI)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Disaster impact via external Geospatial APIs</a:t>
            </a:r>
          </a:p>
          <a:p>
            <a:pPr>
              <a:spcBef>
                <a:spcPts val="700"/>
              </a:spcBef>
            </a:pPr>
            <a:r>
              <a:rPr sz="1400" dirty="0">
                <a:solidFill>
                  <a:srgbClr val="B0C8E4"/>
                </a:solidFill>
              </a:rPr>
              <a:t>&gt;&gt; Microservices decomposition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DF4869-1324-BC3B-3104-11B63E03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CF370D-0AA2-3056-931E-40A6B67E726B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87FF9-1B6A-C7E7-F383-AFDF55C99A8F}"/>
              </a:ext>
            </a:extLst>
          </p:cNvPr>
          <p:cNvSpPr txBox="1"/>
          <p:nvPr/>
        </p:nvSpPr>
        <p:spPr>
          <a:xfrm>
            <a:off x="41148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400" b="1" i="0" dirty="0">
                <a:solidFill>
                  <a:srgbClr val="FFFFFF"/>
                </a:solidFill>
              </a:rPr>
              <a:t>Acknowledgement</a:t>
            </a:r>
            <a:endParaRPr sz="3400" b="1" i="0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97F5F-DCAB-9B1A-D39B-F91502D4E984}"/>
              </a:ext>
            </a:extLst>
          </p:cNvPr>
          <p:cNvSpPr/>
          <p:nvPr/>
        </p:nvSpPr>
        <p:spPr>
          <a:xfrm>
            <a:off x="411480" y="1234440"/>
            <a:ext cx="1280160" cy="54864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B426A-52A7-1BC1-BD2B-52B7B2013814}"/>
              </a:ext>
            </a:extLst>
          </p:cNvPr>
          <p:cNvSpPr/>
          <p:nvPr/>
        </p:nvSpPr>
        <p:spPr>
          <a:xfrm>
            <a:off x="411480" y="14630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E9AAD1-74EA-E2B7-AF31-2D9A440035E5}"/>
              </a:ext>
            </a:extLst>
          </p:cNvPr>
          <p:cNvSpPr/>
          <p:nvPr/>
        </p:nvSpPr>
        <p:spPr>
          <a:xfrm>
            <a:off x="411480" y="14630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77E907-CDAF-E4A3-6E5B-FCA3F8162BA3}"/>
              </a:ext>
            </a:extLst>
          </p:cNvPr>
          <p:cNvSpPr txBox="1"/>
          <p:nvPr/>
        </p:nvSpPr>
        <p:spPr>
          <a:xfrm>
            <a:off x="1097280" y="1938528"/>
            <a:ext cx="100584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i="0" dirty="0">
                <a:solidFill>
                  <a:srgbClr val="B0C8E4"/>
                </a:solidFill>
              </a:rPr>
              <a:t>I would like to sincerely thank </a:t>
            </a:r>
            <a:r>
              <a:rPr lang="en-IN" sz="1300" b="1" i="0" dirty="0">
                <a:solidFill>
                  <a:srgbClr val="B0C8E4"/>
                </a:solidFill>
              </a:rPr>
              <a:t>The Hartford </a:t>
            </a:r>
            <a:r>
              <a:rPr lang="en-IN" sz="1300" b="0" i="0" dirty="0">
                <a:solidFill>
                  <a:srgbClr val="B0C8E4"/>
                </a:solidFill>
              </a:rPr>
              <a:t>for providing this opportunity and for supporting learning and innovation.</a:t>
            </a: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r>
              <a:rPr lang="en-IN" sz="1300" b="0" i="0" dirty="0">
                <a:solidFill>
                  <a:srgbClr val="B0C8E4"/>
                </a:solidFill>
              </a:rPr>
              <a:t>I extend my  gratitude to </a:t>
            </a:r>
            <a:r>
              <a:rPr lang="en-IN" sz="1300" b="1" i="0" dirty="0">
                <a:solidFill>
                  <a:srgbClr val="B0C8E4"/>
                </a:solidFill>
              </a:rPr>
              <a:t>GUVI</a:t>
            </a:r>
            <a:r>
              <a:rPr lang="en-IN" sz="1300" b="0" i="0" dirty="0">
                <a:solidFill>
                  <a:srgbClr val="B0C8E4"/>
                </a:solidFill>
              </a:rPr>
              <a:t> </a:t>
            </a:r>
            <a:r>
              <a:rPr lang="en-IN" sz="1300" b="1" i="0" dirty="0">
                <a:solidFill>
                  <a:srgbClr val="B0C8E4"/>
                </a:solidFill>
              </a:rPr>
              <a:t>and the entire</a:t>
            </a:r>
            <a:r>
              <a:rPr lang="en-IN" sz="1300" b="0" i="0" dirty="0">
                <a:solidFill>
                  <a:srgbClr val="B0C8E4"/>
                </a:solidFill>
              </a:rPr>
              <a:t> team for organizing and guiding this program.</a:t>
            </a: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endParaRPr sz="1300" b="0" i="0" dirty="0">
              <a:solidFill>
                <a:srgbClr val="B0C8E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1B7897-5ABC-014F-B390-8BE69F6188BA}"/>
              </a:ext>
            </a:extLst>
          </p:cNvPr>
          <p:cNvSpPr/>
          <p:nvPr/>
        </p:nvSpPr>
        <p:spPr>
          <a:xfrm>
            <a:off x="411480" y="30632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0C0548-12EA-EEF6-1A12-4116919632FF}"/>
              </a:ext>
            </a:extLst>
          </p:cNvPr>
          <p:cNvSpPr/>
          <p:nvPr/>
        </p:nvSpPr>
        <p:spPr>
          <a:xfrm>
            <a:off x="411480" y="30632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EF7E75-CDEE-0D63-4118-C08F00D88B63}"/>
              </a:ext>
            </a:extLst>
          </p:cNvPr>
          <p:cNvSpPr txBox="1"/>
          <p:nvPr/>
        </p:nvSpPr>
        <p:spPr>
          <a:xfrm>
            <a:off x="1039446" y="3214015"/>
            <a:ext cx="1011623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i="0" dirty="0">
                <a:solidFill>
                  <a:srgbClr val="B0C8E4"/>
                </a:solidFill>
              </a:rPr>
              <a:t>I would like to express my special thanks to </a:t>
            </a:r>
            <a:r>
              <a:rPr lang="en-IN" sz="1300" b="1" i="0" dirty="0">
                <a:solidFill>
                  <a:srgbClr val="B0C8E4"/>
                </a:solidFill>
              </a:rPr>
              <a:t>Surya </a:t>
            </a:r>
            <a:r>
              <a:rPr lang="en-IN" sz="1300" b="1" i="0" dirty="0" err="1">
                <a:solidFill>
                  <a:srgbClr val="B0C8E4"/>
                </a:solidFill>
              </a:rPr>
              <a:t>Thammiraju</a:t>
            </a:r>
            <a:r>
              <a:rPr lang="en-IN" sz="1300" dirty="0">
                <a:solidFill>
                  <a:srgbClr val="B0C8E4"/>
                </a:solidFill>
              </a:rPr>
              <a:t>, Head and Managing Director, India – The Hartford, for the leadership and encouragement.</a:t>
            </a: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r>
              <a:rPr lang="en-IN" sz="1300" dirty="0">
                <a:solidFill>
                  <a:srgbClr val="B0C8E4"/>
                </a:solidFill>
              </a:rPr>
              <a:t>My heartfelt thanks to </a:t>
            </a:r>
            <a:r>
              <a:rPr lang="en-IN" sz="1300" b="1" dirty="0">
                <a:solidFill>
                  <a:srgbClr val="B0C8E4"/>
                </a:solidFill>
              </a:rPr>
              <a:t>Ranjan Bhatnagar</a:t>
            </a:r>
            <a:r>
              <a:rPr lang="en-IN" sz="1300" dirty="0">
                <a:solidFill>
                  <a:srgbClr val="B0C8E4"/>
                </a:solidFill>
              </a:rPr>
              <a:t>, Microsoft Certified Instructor with 30+ years of experience, for sharing valuable knowledge and insights</a:t>
            </a: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endParaRPr lang="en-IN" sz="1300" b="0" i="0" dirty="0">
              <a:solidFill>
                <a:srgbClr val="B0C8E4"/>
              </a:solidFill>
            </a:endParaRPr>
          </a:p>
          <a:p>
            <a:pPr algn="l"/>
            <a:endParaRPr sz="1300" b="0" i="0" dirty="0">
              <a:solidFill>
                <a:srgbClr val="B0C8E4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757A0-6CCD-3AAE-0D50-F3AFD9E6B022}"/>
              </a:ext>
            </a:extLst>
          </p:cNvPr>
          <p:cNvSpPr/>
          <p:nvPr/>
        </p:nvSpPr>
        <p:spPr>
          <a:xfrm>
            <a:off x="411480" y="4663440"/>
            <a:ext cx="11338560" cy="1417320"/>
          </a:xfrm>
          <a:prstGeom prst="rect">
            <a:avLst/>
          </a:prstGeom>
          <a:solidFill>
            <a:srgbClr val="16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22156E-C4B1-C73D-AB43-43D3450A1936}"/>
              </a:ext>
            </a:extLst>
          </p:cNvPr>
          <p:cNvSpPr/>
          <p:nvPr/>
        </p:nvSpPr>
        <p:spPr>
          <a:xfrm>
            <a:off x="411480" y="4663440"/>
            <a:ext cx="548640" cy="14173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3905B7-679D-80E9-7112-906F70F58CB6}"/>
              </a:ext>
            </a:extLst>
          </p:cNvPr>
          <p:cNvSpPr txBox="1"/>
          <p:nvPr/>
        </p:nvSpPr>
        <p:spPr>
          <a:xfrm>
            <a:off x="1097280" y="5138928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00" b="0" i="0" dirty="0">
                <a:solidFill>
                  <a:srgbClr val="B0C8E4"/>
                </a:solidFill>
              </a:rPr>
              <a:t>I would also like to thank </a:t>
            </a:r>
            <a:r>
              <a:rPr lang="en-IN" sz="1300" b="1" i="0" dirty="0">
                <a:solidFill>
                  <a:srgbClr val="B0C8E4"/>
                </a:solidFill>
              </a:rPr>
              <a:t>Koti Rama Murthy Davuluri</a:t>
            </a:r>
            <a:r>
              <a:rPr lang="en-IN" sz="1300" b="0" i="0" dirty="0">
                <a:solidFill>
                  <a:srgbClr val="B0C8E4"/>
                </a:solidFill>
              </a:rPr>
              <a:t>, Senior Staff Software Engineer at The Hartford, for guidance and technical support throughout the journey</a:t>
            </a:r>
          </a:p>
          <a:p>
            <a:pPr algn="l"/>
            <a:endParaRPr lang="en-IN" sz="1300" dirty="0">
              <a:solidFill>
                <a:srgbClr val="B0C8E4"/>
              </a:solidFill>
            </a:endParaRPr>
          </a:p>
          <a:p>
            <a:pPr algn="l"/>
            <a:r>
              <a:rPr lang="en-IN" sz="1300" b="0" i="0" dirty="0">
                <a:solidFill>
                  <a:srgbClr val="B0C8E4"/>
                </a:solidFill>
              </a:rPr>
              <a:t>Thank you</a:t>
            </a:r>
            <a:endParaRPr sz="1300" b="0" i="0" dirty="0">
              <a:solidFill>
                <a:srgbClr val="B0C8E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BF0887-2DB8-7068-BDAE-7B4C2F8FF541}"/>
              </a:ext>
            </a:extLst>
          </p:cNvPr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991688-8150-E057-F716-A760C4F95553}"/>
              </a:ext>
            </a:extLst>
          </p:cNvPr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EB7C71-01C0-FB77-4346-2FEBD2B0C584}"/>
              </a:ext>
            </a:extLst>
          </p:cNvPr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86A93A-7208-BA33-B38A-20BBA5C3F74A}"/>
              </a:ext>
            </a:extLst>
          </p:cNvPr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47CA89-B669-510A-AF92-F57A9C89AAFF}"/>
              </a:ext>
            </a:extLst>
          </p:cNvPr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3629D4-7F1F-D816-F3D9-0F5ECBF67834}"/>
              </a:ext>
            </a:extLst>
          </p:cNvPr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EDC793-21ED-9A0A-B914-465A48631285}"/>
              </a:ext>
            </a:extLst>
          </p:cNvPr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949657-1102-66D8-43BA-00CA8A25C461}"/>
              </a:ext>
            </a:extLst>
          </p:cNvPr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355601-5716-04D0-AA8B-80A9BF57CF07}"/>
              </a:ext>
            </a:extLst>
          </p:cNvPr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9286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772400" y="-914400"/>
            <a:ext cx="5029200" cy="5029200"/>
          </a:xfrm>
          <a:prstGeom prst="ellipse">
            <a:avLst/>
          </a:prstGeom>
          <a:solidFill>
            <a:srgbClr val="00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51302" y="3474720"/>
            <a:ext cx="3200400" cy="3200400"/>
          </a:xfrm>
          <a:prstGeom prst="ellipse">
            <a:avLst/>
          </a:prstGeom>
          <a:solidFill>
            <a:srgbClr val="0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5029200" cy="45720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A8FF"/>
                </a:solidFill>
              </a:rPr>
              <a:t>CDIMS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429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D4B0"/>
                </a:solidFill>
              </a:rPr>
              <a:t>Claim &amp; Disaster Insurance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7315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0C8E4"/>
                </a:solidFill>
              </a:rPr>
              <a:t>Presented by </a:t>
            </a:r>
            <a:endParaRPr lang="en-IN" sz="1600" dirty="0">
              <a:solidFill>
                <a:srgbClr val="B0C8E4"/>
              </a:solidFill>
            </a:endParaRPr>
          </a:p>
          <a:p>
            <a:pPr algn="l"/>
            <a:r>
              <a:rPr sz="1600" b="0" i="0" dirty="0">
                <a:solidFill>
                  <a:srgbClr val="B0C8E4"/>
                </a:solidFill>
              </a:rPr>
              <a:t> </a:t>
            </a:r>
            <a:r>
              <a:rPr lang="en-IN" sz="1600" b="0" i="0" dirty="0">
                <a:solidFill>
                  <a:srgbClr val="B0C8E4"/>
                </a:solidFill>
              </a:rPr>
              <a:t>-</a:t>
            </a:r>
            <a:r>
              <a:rPr sz="1600" b="0" i="0" dirty="0">
                <a:solidFill>
                  <a:srgbClr val="B0C8E4"/>
                </a:solidFill>
              </a:rPr>
              <a:t>Nanda Kishor Gudala</a:t>
            </a:r>
            <a:endParaRPr lang="en-IN" sz="1600" b="0" i="0" dirty="0">
              <a:solidFill>
                <a:srgbClr val="B0C8E4"/>
              </a:solidFill>
            </a:endParaRPr>
          </a:p>
          <a:p>
            <a:pPr algn="l"/>
            <a:r>
              <a:rPr lang="en-IN" sz="1600" b="0" i="0" dirty="0">
                <a:solidFill>
                  <a:srgbClr val="B0C8E4"/>
                </a:solidFill>
              </a:rPr>
              <a:t>  Intern at The Hartford </a:t>
            </a:r>
          </a:p>
          <a:p>
            <a:pPr algn="l"/>
            <a:r>
              <a:rPr lang="en-IN" sz="1600" b="0" i="0" dirty="0">
                <a:solidFill>
                  <a:srgbClr val="B0C8E4"/>
                </a:solidFill>
              </a:rPr>
              <a:t>  [22/12/2025 – 22/06/2026]</a:t>
            </a:r>
          </a:p>
          <a:p>
            <a:pPr algn="l"/>
            <a:r>
              <a:rPr lang="en-IN" sz="1600" dirty="0">
                <a:solidFill>
                  <a:srgbClr val="B0C8E4"/>
                </a:solidFill>
              </a:rPr>
              <a:t>  Date of Submission : 04/03/2026</a:t>
            </a:r>
            <a:r>
              <a:rPr lang="en-IN" sz="1600" b="0" i="0" dirty="0">
                <a:solidFill>
                  <a:srgbClr val="B0C8E4"/>
                </a:solidFill>
              </a:rPr>
              <a:t> </a:t>
            </a:r>
          </a:p>
          <a:p>
            <a:pPr algn="l"/>
            <a:endParaRPr sz="1600" b="0" i="0" dirty="0">
              <a:solidFill>
                <a:srgbClr val="B0C8E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01695" y="55374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B0C8E4"/>
                </a:solidFill>
              </a:rPr>
              <a:t>Questions? Connect with me!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3A30D1-45FA-6984-BA56-087A7D1D14E2}"/>
              </a:ext>
            </a:extLst>
          </p:cNvPr>
          <p:cNvGrpSpPr/>
          <p:nvPr/>
        </p:nvGrpSpPr>
        <p:grpSpPr>
          <a:xfrm>
            <a:off x="521208" y="6190488"/>
            <a:ext cx="8558784" cy="374904"/>
            <a:chOff x="402336" y="5568696"/>
            <a:chExt cx="8558784" cy="374904"/>
          </a:xfrm>
        </p:grpSpPr>
        <p:sp>
          <p:nvSpPr>
            <p:cNvPr id="11" name="Rectangle 10"/>
            <p:cNvSpPr/>
            <p:nvPr/>
          </p:nvSpPr>
          <p:spPr>
            <a:xfrm>
              <a:off x="502920" y="5577840"/>
              <a:ext cx="2011680" cy="365760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2336" y="5624789"/>
              <a:ext cx="201168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 dirty="0">
                  <a:solidFill>
                    <a:srgbClr val="00A8FF"/>
                  </a:solidFill>
                </a:rPr>
                <a:t>ASP.NET Core</a:t>
              </a:r>
              <a:r>
                <a:rPr lang="en-IN" sz="1100" b="1" i="0" dirty="0">
                  <a:solidFill>
                    <a:srgbClr val="00A8FF"/>
                  </a:solidFill>
                </a:rPr>
                <a:t> 8</a:t>
              </a:r>
              <a:endParaRPr sz="1100" b="1" i="0" dirty="0">
                <a:solidFill>
                  <a:srgbClr val="00A8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651760" y="5577840"/>
              <a:ext cx="2011680" cy="365760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51760" y="5568696"/>
              <a:ext cx="201168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 dirty="0">
                  <a:solidFill>
                    <a:srgbClr val="00D4B0"/>
                  </a:solidFill>
                </a:rPr>
                <a:t>Angular </a:t>
              </a:r>
              <a:r>
                <a:rPr lang="en-IN" sz="1100" b="1" dirty="0">
                  <a:solidFill>
                    <a:srgbClr val="00D4B0"/>
                  </a:solidFill>
                </a:rPr>
                <a:t>20</a:t>
              </a:r>
              <a:endParaRPr sz="1100" b="1" i="0" dirty="0">
                <a:solidFill>
                  <a:srgbClr val="00D4B0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00600" y="5577840"/>
              <a:ext cx="2011680" cy="365760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00600" y="5568696"/>
              <a:ext cx="20116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C328"/>
                  </a:solidFill>
                </a:rPr>
                <a:t>SQL Server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49440" y="5577840"/>
              <a:ext cx="2011680" cy="365760"/>
            </a:xfrm>
            <a:prstGeom prst="rect">
              <a:avLst/>
            </a:prstGeom>
            <a:solidFill>
              <a:srgbClr val="263D5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49440" y="5568696"/>
              <a:ext cx="201168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>
                  <a:solidFill>
                    <a:srgbClr val="FF6B6B"/>
                  </a:solidFill>
                </a:rPr>
                <a:t>Clean Architecture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566928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7044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7161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72784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73952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75120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76288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77456" y="6565392"/>
            <a:ext cx="109728" cy="109728"/>
          </a:xfrm>
          <a:prstGeom prst="rect">
            <a:avLst/>
          </a:prstGeom>
          <a:solidFill>
            <a:srgbClr val="26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78624" y="6565392"/>
            <a:ext cx="109728" cy="109728"/>
          </a:xfrm>
          <a:prstGeom prst="rect">
            <a:avLst/>
          </a:prstGeom>
          <a:solidFill>
            <a:srgbClr val="00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1210</Words>
  <Application>Microsoft Office PowerPoint</Application>
  <PresentationFormat>Custom</PresentationFormat>
  <Paragraphs>185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Nanda kishor Gudala</cp:lastModifiedBy>
  <cp:revision>3</cp:revision>
  <dcterms:created xsi:type="dcterms:W3CDTF">2013-01-27T09:14:16Z</dcterms:created>
  <dcterms:modified xsi:type="dcterms:W3CDTF">2026-03-09T12:30:08Z</dcterms:modified>
  <cp:category/>
</cp:coreProperties>
</file>